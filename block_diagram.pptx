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11480"/>
            <a:ext cx="11612880" cy="150876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SENSING LAYER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74320" y="2057400"/>
            <a:ext cx="11612880" cy="173736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210312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PROCESSING &amp; CONTROL LAYER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3931920"/>
            <a:ext cx="11612880" cy="150876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397764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CLOUD LAYER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5577840"/>
            <a:ext cx="11612880" cy="1051560"/>
          </a:xfrm>
          <a:prstGeom prst="rect">
            <a:avLst/>
          </a:prstGeom>
          <a:solidFill>
            <a:srgbClr val="F8FAFC">
              <a:alpha val="8000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56235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4748B"/>
                </a:solidFill>
              </a:rPr>
              <a:t>USER LAYER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2920" y="65836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70408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A6E"/>
                </a:solidFill>
              </a:rPr>
              <a:t>Soil Sensor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211580"/>
            <a:ext cx="17373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C4A6E"/>
                </a:solidFill>
              </a:rPr>
              <a:t>Zone A · GPIO 34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88920" y="65836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70408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A6E"/>
                </a:solidFill>
              </a:rPr>
              <a:t>Soil Sensor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1211580"/>
            <a:ext cx="17373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C4A6E"/>
                </a:solidFill>
              </a:rPr>
              <a:t>Zone B · GPIO 35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74920" y="65836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70408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A6E"/>
                </a:solidFill>
              </a:rPr>
              <a:t>Soil Sensor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1211580"/>
            <a:ext cx="17373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C4A6E"/>
                </a:solidFill>
              </a:rPr>
              <a:t>Zone C · GPIO 32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955280" y="658368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CE7F3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704088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1843"/>
                </a:solidFill>
              </a:rPr>
              <a:t>Power Supply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01000" y="1211580"/>
            <a:ext cx="16459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31843"/>
                </a:solidFill>
              </a:rPr>
              <a:t>5V + 12V DC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0" y="658368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704088"/>
            <a:ext cx="14630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350F"/>
                </a:solidFill>
              </a:rPr>
              <a:t>4-Ch Relay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04120" y="1211580"/>
            <a:ext cx="14630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8350F"/>
                </a:solidFill>
              </a:rPr>
              <a:t>Active LOW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22860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7F4EA"/>
          </a:solidFill>
          <a:ln w="19050">
            <a:solidFill>
              <a:srgbClr val="2A73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331720"/>
            <a:ext cx="39319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</a:rPr>
              <a:t>ESP32 Microcontroller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304038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</a:rPr>
              <a:t>WiFi · ADC · Decision Tree ML · Firebase HTTP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28600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2331720"/>
            <a:ext cx="1554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Pump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3040380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8A"/>
                </a:solidFill>
              </a:rPr>
              <a:t>Zone A · 12V DC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63840" y="228600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2331720"/>
            <a:ext cx="1554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Pump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09560" y="3040380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8A"/>
                </a:solidFill>
              </a:rPr>
              <a:t>Zone B · 12V DC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784080" y="228600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0" y="2331720"/>
            <a:ext cx="1554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Pump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29800" y="3040380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8A"/>
                </a:solidFill>
              </a:rPr>
              <a:t>Zone C · 12V DC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1520" y="4160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206240"/>
            <a:ext cx="2926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</a:rPr>
              <a:t>Firebase Realtime DB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4713732"/>
            <a:ext cx="29260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1D95"/>
                </a:solidFill>
              </a:rPr>
              <a:t>/sensors  ·  /commands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114800" y="4160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4206240"/>
            <a:ext cx="2926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</a:rPr>
              <a:t>Firebase Hosting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60520" y="4713732"/>
            <a:ext cx="29260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1D95"/>
                </a:solidFill>
              </a:rPr>
              <a:t>agrosense-e8582.web.app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498080" y="4160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4206240"/>
            <a:ext cx="2926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</a:rPr>
              <a:t>Firebase Auth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4713732"/>
            <a:ext cx="29260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C1D95"/>
                </a:solidFill>
              </a:rPr>
              <a:t>Secure read / write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28800" y="576072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74520" y="58064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Web Dashboard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874520" y="6163056"/>
            <a:ext cx="33832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4E3B"/>
                </a:solidFill>
              </a:rPr>
              <a:t>Any browser · worldwide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00800" y="576072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58064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2D12"/>
                </a:solidFill>
              </a:rPr>
              <a:t>Farmer / Operator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46520" y="6163056"/>
            <a:ext cx="33832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2D12"/>
                </a:solidFill>
              </a:rPr>
              <a:t>Monitor · control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417320" y="1664208"/>
            <a:ext cx="0" cy="621792"/>
          </a:xfrm>
          <a:prstGeom prst="line">
            <a:avLst/>
          </a:prstGeom>
          <a:noFill/>
          <a:ln w="17780">
            <a:solidFill>
              <a:srgbClr val="0369A1"/>
            </a:solidFill>
            <a:prstDash val="solid"/>
            <a:headEnd type="none"/>
            <a:tailEnd type="arrow"/>
          </a:ln>
        </p:spPr>
      </p:sp>
      <p:sp>
        <p:nvSpPr>
          <p:cNvPr id="53" name="Text 51"/>
          <p:cNvSpPr/>
          <p:nvPr/>
        </p:nvSpPr>
        <p:spPr>
          <a:xfrm>
            <a:off x="1472184" y="18836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369A1"/>
                </a:solidFill>
              </a:rPr>
              <a:t>analog in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703320" y="1664208"/>
            <a:ext cx="0" cy="621792"/>
          </a:xfrm>
          <a:prstGeom prst="line">
            <a:avLst/>
          </a:prstGeom>
          <a:noFill/>
          <a:ln w="17780">
            <a:solidFill>
              <a:srgbClr val="0369A1"/>
            </a:solidFill>
            <a:prstDash val="solid"/>
            <a:headEnd type="none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5989320" y="1664208"/>
            <a:ext cx="0" cy="621792"/>
          </a:xfrm>
          <a:prstGeom prst="line">
            <a:avLst/>
          </a:prstGeom>
          <a:noFill/>
          <a:ln w="17780">
            <a:solidFill>
              <a:srgbClr val="0369A1"/>
            </a:solidFill>
            <a:prstDash val="solid"/>
            <a:headEnd type="none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8778240" y="1161288"/>
            <a:ext cx="-402336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arrow"/>
          </a:ln>
        </p:spPr>
      </p:sp>
      <p:sp>
        <p:nvSpPr>
          <p:cNvPr id="57" name="Text 55"/>
          <p:cNvSpPr/>
          <p:nvPr/>
        </p:nvSpPr>
        <p:spPr>
          <a:xfrm>
            <a:off x="6400800" y="10058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BE185D"/>
                </a:solidFill>
              </a:rPr>
              <a:t>5V/12V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9692640" y="1161288"/>
            <a:ext cx="365760" cy="0"/>
          </a:xfrm>
          <a:prstGeom prst="line">
            <a:avLst/>
          </a:prstGeom>
          <a:noFill/>
          <a:ln w="17780">
            <a:solidFill>
              <a:srgbClr val="BE185D"/>
            </a:solidFill>
            <a:prstDash val="solid"/>
            <a:tailEnd type="arrow"/>
          </a:ln>
        </p:spPr>
      </p:sp>
      <p:sp>
        <p:nvSpPr>
          <p:cNvPr id="59" name="Text 57"/>
          <p:cNvSpPr/>
          <p:nvPr/>
        </p:nvSpPr>
        <p:spPr>
          <a:xfrm>
            <a:off x="9509760" y="10058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BE185D"/>
                </a:solidFill>
              </a:rPr>
              <a:t>power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4754880" y="2971800"/>
            <a:ext cx="5303520" cy="0"/>
          </a:xfrm>
          <a:prstGeom prst="line">
            <a:avLst/>
          </a:prstGeom>
          <a:noFill/>
          <a:ln w="17780">
            <a:solidFill>
              <a:srgbClr val="2A7339"/>
            </a:solidFill>
            <a:prstDash val="solid"/>
            <a:tailEnd type="arrow"/>
          </a:ln>
        </p:spPr>
      </p:sp>
      <p:sp>
        <p:nvSpPr>
          <p:cNvPr id="61" name="Text 59"/>
          <p:cNvSpPr/>
          <p:nvPr/>
        </p:nvSpPr>
        <p:spPr>
          <a:xfrm>
            <a:off x="7040880" y="2816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7339"/>
                </a:solidFill>
              </a:rPr>
              <a:t>GPIO 26/27/14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0835640" y="1161288"/>
            <a:ext cx="0" cy="1810512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0" y="2971800"/>
            <a:ext cx="489204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tailEnd type="arrow"/>
          </a:ln>
        </p:spPr>
      </p:sp>
      <p:sp>
        <p:nvSpPr>
          <p:cNvPr id="64" name="Text 62"/>
          <p:cNvSpPr/>
          <p:nvPr/>
        </p:nvSpPr>
        <p:spPr>
          <a:xfrm>
            <a:off x="8023860" y="2816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97706"/>
                </a:solidFill>
              </a:rPr>
              <a:t>COM/NO · 12V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2286000" y="3657600"/>
            <a:ext cx="0" cy="50292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arrow"/>
            <a:tailEnd type="arrow"/>
          </a:ln>
        </p:spPr>
      </p:sp>
      <p:sp>
        <p:nvSpPr>
          <p:cNvPr id="66" name="Text 64"/>
          <p:cNvSpPr/>
          <p:nvPr/>
        </p:nvSpPr>
        <p:spPr>
          <a:xfrm>
            <a:off x="2340864" y="38176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C3AED"/>
                </a:solidFill>
              </a:rPr>
              <a:t>HTTPS/WiFi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3749040" y="4663440"/>
            <a:ext cx="36576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5623560" y="5166360"/>
            <a:ext cx="0" cy="59436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arrow"/>
          </a:ln>
        </p:spPr>
      </p:sp>
      <p:sp>
        <p:nvSpPr>
          <p:cNvPr id="69" name="Text 67"/>
          <p:cNvSpPr/>
          <p:nvPr/>
        </p:nvSpPr>
        <p:spPr>
          <a:xfrm>
            <a:off x="5678424" y="53721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C3AED"/>
                </a:solidFill>
              </a:rPr>
              <a:t>serves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5303520" y="6126480"/>
            <a:ext cx="1097280" cy="0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arrow"/>
            <a:tailEnd type="arrow"/>
          </a:ln>
        </p:spPr>
      </p:sp>
      <p:sp>
        <p:nvSpPr>
          <p:cNvPr id="71" name="Text 69"/>
          <p:cNvSpPr/>
          <p:nvPr/>
        </p:nvSpPr>
        <p:spPr>
          <a:xfrm>
            <a:off x="274320" y="4572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AgroSense — System Block Diagram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74320" y="310896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Autonomous Maize Crop Irrigation Monitoring System  ·  FUTO Computer Science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2026-06-03T10:52:24Z</dcterms:created>
  <dcterms:modified xsi:type="dcterms:W3CDTF">2026-06-03T10:52:24Z</dcterms:modified>
</cp:coreProperties>
</file>